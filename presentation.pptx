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01495B-01BB-4F9A-8D74-594CB190DC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9091EA-3785-4143-B0CE-EE59291DE6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40D462-D360-4891-96B8-CC09E32B05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7F2C8D-842F-49CC-9581-A2C888BBDC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AFD558-94B3-4DE1-A3DE-D6560598B0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64C49D-AC09-4A02-A183-41F20EF8D6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9824BB-9A67-45CF-91E6-A2FA75E570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2CA3D7-7D1F-4581-928D-9ED0B296EC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0CC7ED-71EA-4F85-8623-E34D822FC7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398599-836D-4DDF-9BC2-22A03A51CE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D95777-E78E-4B2A-854C-8CA9F21208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980052-BFD0-4199-9004-BA0733ABE91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237376-B85D-454C-B83E-CB1E840E3A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485998-2114-42C7-8C3B-DCC58AEF02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12617F-BA02-46CF-98E4-6BBAEE8ED6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1E9FF1-44A7-4347-9CCD-EF8AFA1912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07716B-6EEA-471B-AFD9-B01018EC07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61CBE0-DF6F-4E94-B778-F5132443D3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F65BAF-D74E-4753-B2BF-2DDFEEAF14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33E0DC-FA38-4DAB-ACE2-244855E1FD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06199F-C7A4-42D3-9C91-D8607E4BA9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53A81D-358B-48C0-B682-3C59E8AA53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C4578C-47F7-4C75-BBB6-B1932F434C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0B16BA-1893-475A-8253-2E1F5111D8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3465CB-D1FA-4519-AA30-38F88C34D1D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D5743B-DA6B-4875-B996-0A467D25530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2743200"/>
            <a:ext cx="12191040" cy="1370520"/>
          </a:xfrm>
          <a:prstGeom prst="rect">
            <a:avLst/>
          </a:prstGeom>
          <a:solidFill>
            <a:srgbClr val="0e2a5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731520" y="2926080"/>
            <a:ext cx="1066680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DejaVu Sans"/>
              </a:rPr>
              <a:t>FINAL SURGE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731520" y="3474720"/>
            <a:ext cx="106668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00b4d8"/>
                </a:solidFill>
                <a:latin typeface="Calibri"/>
                <a:ea typeface="DejaVu Sans"/>
              </a:rPr>
              <a:t>Сайт для UI-автотестов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 4"/>
          <p:cNvSpPr/>
          <p:nvPr/>
        </p:nvSpPr>
        <p:spPr>
          <a:xfrm>
            <a:off x="4572000" y="3936960"/>
            <a:ext cx="304704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731520" y="4200120"/>
            <a:ext cx="1066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888b8e"/>
                </a:solidFill>
                <a:latin typeface="Calibri"/>
                <a:ea typeface="DejaVu Sans"/>
              </a:rPr>
              <a:t>log.finalsurge.com  •  Java 17  •  Selenide 7.x  •  JUnit 5  •  Allure Report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731520" y="5943600"/>
            <a:ext cx="10666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88b8e"/>
                </a:solidFill>
                <a:latin typeface="Calibri"/>
                <a:ea typeface="DejaVu Sans"/>
              </a:rPr>
              <a:t>Анна Сидорова  •  2026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731520" y="411480"/>
            <a:ext cx="10666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  <a:ea typeface="DejaVu Sans"/>
              </a:rPr>
              <a:t>Что такое Final Surge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2"/>
          <p:cNvSpPr/>
          <p:nvPr/>
        </p:nvSpPr>
        <p:spPr>
          <a:xfrm>
            <a:off x="731520" y="960120"/>
            <a:ext cx="182772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731520" y="1188720"/>
            <a:ext cx="10666800" cy="46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🏃‍♂️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Онлайн-платформа для triathletes и бегунов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1a1a2e"/>
                </a:solidFill>
                <a:latin typeface="Calibri"/>
                <a:ea typeface="DejaVu Sans"/>
              </a:rPr>
              <a:t>Final Surge — это веб-приложение для планирования,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1a1a2e"/>
                </a:solidFill>
                <a:latin typeface="Calibri"/>
                <a:ea typeface="DejaVu Sans"/>
              </a:rPr>
              <a:t>отслеживания и анализа тренировок.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0b1d3a"/>
                </a:solidFill>
                <a:latin typeface="Calibri"/>
                <a:ea typeface="DejaVu Sans"/>
              </a:rPr>
              <a:t>Основные возможности: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Календарь тренировок (Day / Week / Month)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Добавление тренировок (Quick Add / Full Add)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Training Plans — планы тренировок с Apply to Calendar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Daily Vitals — вес, пульс, сон, графики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Отчёты и статистика по дистанции и длительности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Интеграции: Garmin, Strava, TrainerRoad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Gear &amp; Routes — учёт экипировки и маршрутов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888b8e"/>
                </a:solidFill>
                <a:latin typeface="Calibri"/>
                <a:ea typeface="DejaVu Sans"/>
              </a:rPr>
              <a:t>Технологии сайта: ASP.NET, jQuery, Bootstrap 2, AJAX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731520" y="274320"/>
            <a:ext cx="10666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  <a:ea typeface="DejaVu Sans"/>
              </a:rPr>
              <a:t>Архитектура приложения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 2"/>
          <p:cNvSpPr/>
          <p:nvPr/>
        </p:nvSpPr>
        <p:spPr>
          <a:xfrm>
            <a:off x="731520" y="822960"/>
            <a:ext cx="182772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graphicFrame>
        <p:nvGraphicFramePr>
          <p:cNvPr id="93" name="Table 3"/>
          <p:cNvGraphicFramePr/>
          <p:nvPr/>
        </p:nvGraphicFramePr>
        <p:xfrm>
          <a:off x="457200" y="1097280"/>
          <a:ext cx="11277000" cy="5028480"/>
        </p:xfrm>
        <a:graphic>
          <a:graphicData uri="http://schemas.openxmlformats.org/drawingml/2006/table">
            <a:tbl>
              <a:tblPr/>
              <a:tblGrid>
                <a:gridCol w="3759120"/>
                <a:gridCol w="3759120"/>
                <a:gridCol w="3759120"/>
              </a:tblGrid>
              <a:tr h="4190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Раздел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Ключевые особенности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🔑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Логин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/login.cshtml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 панели: вход + восстановление. jQuery Validate. 13 скрытых полей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📝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Регистрация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/register.cshtml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Форма нового аккаунта, клиентская валидация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📊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Dashboard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 (после входа)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Виджеты: сегодняшняя тренировка, сводка за неделю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📅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Календарь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/Calendar.cshtml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JS-рендеринг сетки! Day/Week/Month, infinite scroll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🏋️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Тренировки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/Workouts.cshtml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⚠️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HTTP 500 без сессии! Список, поиск, Garmin/Strava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📋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Training Plans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/TrainingPlans.cshtml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Список планов, Apply to Calendar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🔄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Plan History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/TrainingPlansHist.cshtml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Управление применёнными планами, Shift Dates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💓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Daily Vitals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Вложен в Workouts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Вес, пульс, сон — графики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📈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Отчёты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/Reports.cshtml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Графики дистанции/длительности, фильтры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👤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Профиль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/UserProfile.cshtml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Имя, email, аватар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4f8"/>
                    </a:solidFill>
                  </a:tcPr>
                </a:tc>
              </a:tr>
              <a:tr h="419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⚙️ </a:t>
                      </a: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Настройки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/Preferences.cshtml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Уведомления, приватность, синхронизация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731520" y="320040"/>
            <a:ext cx="10666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DejaVu Sans"/>
              </a:rPr>
              <a:t>Почему Selenide, а не чистый Selenium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 2"/>
          <p:cNvSpPr/>
          <p:nvPr/>
        </p:nvSpPr>
        <p:spPr>
          <a:xfrm>
            <a:off x="731520" y="868680"/>
            <a:ext cx="182772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graphicFrame>
        <p:nvGraphicFramePr>
          <p:cNvPr id="96" name="Table 3"/>
          <p:cNvGraphicFramePr/>
          <p:nvPr/>
        </p:nvGraphicFramePr>
        <p:xfrm>
          <a:off x="548640" y="1188720"/>
          <a:ext cx="11063160" cy="4937400"/>
        </p:xfrm>
        <a:graphic>
          <a:graphicData uri="http://schemas.openxmlformats.org/drawingml/2006/table">
            <a:tbl>
              <a:tblPr/>
              <a:tblGrid>
                <a:gridCol w="3687840"/>
                <a:gridCol w="3687840"/>
                <a:gridCol w="3687840"/>
              </a:tblGrid>
              <a:tr h="9874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Проблема Final Surge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❌ </a:t>
                      </a: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Чистый Selenium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✅ </a:t>
                      </a: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Selenide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b4d8"/>
                    </a:solidFill>
                  </a:tcPr>
                </a:tc>
              </a:tr>
              <a:tr h="987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AJAX-загрузка календаря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WebDriverWait + jQuery.active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+ ручной контроль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Автоматически ждёт AJAX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$(...).shouldBe(visible)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</a:tr>
              <a:tr h="987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jQuery анимации (200 мс)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Thread.sleep(200) — хрупко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makePause() антипаттерн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Встроенные ожидания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видимости и кликабельности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2a52"/>
                    </a:solidFill>
                  </a:tcPr>
                </a:tc>
              </a:tr>
              <a:tr h="987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Workouts.cshtml: 500 без сессии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Ручная проверка URL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+ перелогин при ошибке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Selenide сам ждёт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загрузки страницы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d3a"/>
                    </a:solidFill>
                  </a:tcPr>
                </a:tc>
              </a:tr>
              <a:tr h="987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IFrame (Garmin/импорт)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driver.switchTo().frame()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888b8e"/>
                          </a:solidFill>
                          <a:latin typeface="Calibri"/>
                        </a:rPr>
                        <a:t>+ ручной WebDriverWait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switchTo().frame()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+ авто-ожидание загрузки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e2a52"/>
                    </a:solidFill>
                  </a:tcPr>
                </a:tc>
              </a:tr>
            </a:tbl>
          </a:graphicData>
        </a:graphic>
      </p:graphicFrame>
      <p:sp>
        <p:nvSpPr>
          <p:cNvPr id="97" name="TextBox 4"/>
          <p:cNvSpPr/>
          <p:nvPr/>
        </p:nvSpPr>
        <p:spPr>
          <a:xfrm>
            <a:off x="731520" y="6217920"/>
            <a:ext cx="106668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Selenide = авто-ожидания  •  fluent API  •  скриншоты при падении  •  минимум кода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731520" y="274320"/>
            <a:ext cx="10666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  <a:ea typeface="DejaVu Sans"/>
              </a:rPr>
              <a:t>Технологический стек проекта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2"/>
          <p:cNvSpPr/>
          <p:nvPr/>
        </p:nvSpPr>
        <p:spPr>
          <a:xfrm>
            <a:off x="731520" y="822960"/>
            <a:ext cx="182772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" name="Rounded Rectangle 3"/>
          <p:cNvSpPr/>
          <p:nvPr/>
        </p:nvSpPr>
        <p:spPr>
          <a:xfrm>
            <a:off x="457200" y="11887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640080" y="13716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☕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Java 17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640080" y="1920240"/>
            <a:ext cx="310788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LTS-версия. Современный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с records, pattern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matching, sealed classes.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6"/>
          <p:cNvSpPr/>
          <p:nvPr/>
        </p:nvSpPr>
        <p:spPr>
          <a:xfrm>
            <a:off x="4206240" y="11887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4389120" y="13716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🧪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JUnit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4389120" y="1920240"/>
            <a:ext cx="310788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Современный тестовый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фреймворк. Параметризация,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parallel execution, extensions.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9"/>
          <p:cNvSpPr/>
          <p:nvPr/>
        </p:nvSpPr>
        <p:spPr>
          <a:xfrm>
            <a:off x="7955280" y="11887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8138160" y="13716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⚡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Selenide 7.x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8138160" y="1920240"/>
            <a:ext cx="310788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Обёртка над Selenium.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Авто-ожидания, fluent API,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скриншоты, auto-close.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12"/>
          <p:cNvSpPr/>
          <p:nvPr/>
        </p:nvSpPr>
        <p:spPr>
          <a:xfrm>
            <a:off x="457200" y="30175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640080" y="32004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📊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Allure Report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4"/>
          <p:cNvSpPr/>
          <p:nvPr/>
        </p:nvSpPr>
        <p:spPr>
          <a:xfrm>
            <a:off x="640080" y="3749040"/>
            <a:ext cx="310788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Красивые отчёты о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прохождении тестов.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Шаги, вложения, графики.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15"/>
          <p:cNvSpPr/>
          <p:nvPr/>
        </p:nvSpPr>
        <p:spPr>
          <a:xfrm>
            <a:off x="4206240" y="30175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" name="TextBox 16"/>
          <p:cNvSpPr/>
          <p:nvPr/>
        </p:nvSpPr>
        <p:spPr>
          <a:xfrm>
            <a:off x="4389120" y="32004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📦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Lombok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4389120" y="3749040"/>
            <a:ext cx="310788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@Log4j2 — логирование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@Getter, @Setter, @Builder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— чистый код без boilerplate.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18"/>
          <p:cNvSpPr/>
          <p:nvPr/>
        </p:nvSpPr>
        <p:spPr>
          <a:xfrm>
            <a:off x="7955280" y="30175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" name="TextBox 19"/>
          <p:cNvSpPr/>
          <p:nvPr/>
        </p:nvSpPr>
        <p:spPr>
          <a:xfrm>
            <a:off x="8138160" y="32004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🎲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Faker + Factory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20"/>
          <p:cNvSpPr/>
          <p:nvPr/>
        </p:nvSpPr>
        <p:spPr>
          <a:xfrm>
            <a:off x="8138160" y="3749040"/>
            <a:ext cx="3107880" cy="11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Генерация тестовых данных: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имена, email, адреса.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Factory — переиспользуемые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билдеры объектов.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ounded Rectangle 21"/>
          <p:cNvSpPr/>
          <p:nvPr/>
        </p:nvSpPr>
        <p:spPr>
          <a:xfrm>
            <a:off x="457200" y="48463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" name="TextBox 22"/>
          <p:cNvSpPr/>
          <p:nvPr/>
        </p:nvSpPr>
        <p:spPr>
          <a:xfrm>
            <a:off x="640080" y="50292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🎯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TestListener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3"/>
          <p:cNvSpPr/>
          <p:nvPr/>
        </p:nvSpPr>
        <p:spPr>
          <a:xfrm>
            <a:off x="640080" y="5577840"/>
            <a:ext cx="310788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Перехват событий тестов: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onTestStart, onTestFailure,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скриншоты, логирование.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24"/>
          <p:cNvSpPr/>
          <p:nvPr/>
        </p:nvSpPr>
        <p:spPr>
          <a:xfrm>
            <a:off x="4206240" y="48463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" name="TextBox 25"/>
          <p:cNvSpPr/>
          <p:nvPr/>
        </p:nvSpPr>
        <p:spPr>
          <a:xfrm>
            <a:off x="4389120" y="50292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🔐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config.properties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6"/>
          <p:cNvSpPr/>
          <p:nvPr/>
        </p:nvSpPr>
        <p:spPr>
          <a:xfrm>
            <a:off x="4389120" y="5486400"/>
            <a:ext cx="310788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Креды и URL вынесены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в отдельный файл.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System.getProperty().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27"/>
          <p:cNvSpPr/>
          <p:nvPr/>
        </p:nvSpPr>
        <p:spPr>
          <a:xfrm>
            <a:off x="7955280" y="4846320"/>
            <a:ext cx="3473640" cy="16448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" name="TextBox 28"/>
          <p:cNvSpPr/>
          <p:nvPr/>
        </p:nvSpPr>
        <p:spPr>
          <a:xfrm>
            <a:off x="8138160" y="5029200"/>
            <a:ext cx="3107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🔁  </a:t>
            </a:r>
            <a:r>
              <a:rPr b="1" lang="en-US" sz="1800" spc="-1" strike="noStrike">
                <a:solidFill>
                  <a:srgbClr val="0b1d3a"/>
                </a:solidFill>
                <a:latin typeface="Calibri"/>
                <a:ea typeface="DejaVu Sans"/>
              </a:rPr>
              <a:t>GitHub Actions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9"/>
          <p:cNvSpPr/>
          <p:nvPr/>
        </p:nvSpPr>
        <p:spPr>
          <a:xfrm>
            <a:off x="8138160" y="5577840"/>
            <a:ext cx="3107880" cy="8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CI/CD: автозапуск тестов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при push/PR, матрица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сборок, артефакты Allure.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731520" y="274320"/>
            <a:ext cx="10666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  <a:ea typeface="DejaVu Sans"/>
              </a:rPr>
              <a:t>Allure Report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731520" y="822960"/>
            <a:ext cx="182772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731520" y="1005840"/>
            <a:ext cx="10666800" cy="14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0b1d3a"/>
                </a:solidFill>
                <a:latin typeface="Calibri"/>
                <a:ea typeface="DejaVu Sans"/>
              </a:rPr>
              <a:t>📊  </a:t>
            </a:r>
            <a:r>
              <a:rPr b="1" lang="en-US" sz="1600" spc="-1" strike="noStrike">
                <a:solidFill>
                  <a:srgbClr val="0b1d3a"/>
                </a:solidFill>
                <a:latin typeface="Calibri"/>
                <a:ea typeface="DejaVu Sans"/>
              </a:rPr>
              <a:t>Детальные отчёты о каждом прогоне тестов: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Пошаговое выполнение с @Step-аннотациями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Скриншоты при падении (Selenide делает автоматически)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Графики: тренды, продолжительность, распределение ошибок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Группировка по сьютам, severity, фичам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731520" y="2099880"/>
            <a:ext cx="106668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731520" y="5600160"/>
            <a:ext cx="10666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88b8e"/>
                </a:solidFill>
                <a:latin typeface="Calibri"/>
                <a:ea typeface="DejaVu Sans"/>
              </a:rPr>
              <a:t>Allure интегрируется одной зависимостью в pom.xml. Selenide пишет скриншоты — Allure их подхватывает.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1" descr="img_075386f0ff01.png"/>
          <p:cNvPicPr/>
          <p:nvPr/>
        </p:nvPicPr>
        <p:blipFill>
          <a:blip r:embed="rId1"/>
          <a:stretch/>
        </p:blipFill>
        <p:spPr>
          <a:xfrm>
            <a:off x="804960" y="2743200"/>
            <a:ext cx="5198760" cy="262584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5" descr="img_8b25f51cc27b.png"/>
          <p:cNvPicPr/>
          <p:nvPr/>
        </p:nvPicPr>
        <p:blipFill>
          <a:blip r:embed="rId2"/>
          <a:stretch/>
        </p:blipFill>
        <p:spPr>
          <a:xfrm>
            <a:off x="6629400" y="2514600"/>
            <a:ext cx="5198760" cy="297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731520" y="274320"/>
            <a:ext cx="10666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  <a:ea typeface="DejaVu Sans"/>
              </a:rPr>
              <a:t>GitHub Actions — CI/CD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 2"/>
          <p:cNvSpPr/>
          <p:nvPr/>
        </p:nvSpPr>
        <p:spPr>
          <a:xfrm>
            <a:off x="731520" y="822960"/>
            <a:ext cx="1827720" cy="446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731520" y="1005840"/>
            <a:ext cx="10666800" cy="21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0b1d3a"/>
                </a:solidFill>
                <a:latin typeface="Calibri"/>
                <a:ea typeface="DejaVu Sans"/>
              </a:rPr>
              <a:t>🔁  </a:t>
            </a:r>
            <a:r>
              <a:rPr b="1" lang="en-US" sz="1600" spc="-1" strike="noStrike">
                <a:solidFill>
                  <a:srgbClr val="0b1d3a"/>
                </a:solidFill>
                <a:latin typeface="Calibri"/>
                <a:ea typeface="DejaVu Sans"/>
              </a:rPr>
              <a:t>Автоматический запуск тестов при push и Pull Request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Триггеры: push в main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Матрица сборок: Java 17, разные браузеры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Креды — через GitHub Secrets (FS_EMAIL, FS_PASSWORD)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Артефакты: сохранение Allure-отчёта после прогона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•  </a:t>
            </a:r>
            <a:r>
              <a:rPr b="0" i="1" lang="en-US" sz="1400" spc="-1" strike="noStrike">
                <a:solidFill>
                  <a:srgbClr val="1a1a2e"/>
                </a:solidFill>
                <a:latin typeface="Calibri"/>
                <a:ea typeface="DejaVu Sans"/>
              </a:rPr>
              <a:t>Allure History — тренды по прогонам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Picture 4" descr="img_a742acf3e578.png"/>
          <p:cNvPicPr/>
          <p:nvPr/>
        </p:nvPicPr>
        <p:blipFill>
          <a:blip r:embed="rId1"/>
          <a:stretch/>
        </p:blipFill>
        <p:spPr>
          <a:xfrm>
            <a:off x="1601640" y="3200400"/>
            <a:ext cx="9599040" cy="2898360"/>
          </a:xfrm>
          <a:prstGeom prst="rect">
            <a:avLst/>
          </a:prstGeom>
          <a:ln w="0">
            <a:noFill/>
          </a:ln>
        </p:spPr>
      </p:pic>
      <p:sp>
        <p:nvSpPr>
          <p:cNvPr id="138" name="TextBox 5"/>
          <p:cNvSpPr/>
          <p:nvPr/>
        </p:nvSpPr>
        <p:spPr>
          <a:xfrm>
            <a:off x="731520" y="6249960"/>
            <a:ext cx="106668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88b8e"/>
                </a:solidFill>
                <a:latin typeface="Calibri"/>
                <a:ea typeface="DejaVu Sans"/>
              </a:rPr>
              <a:t>config.properties  •  GitHub Secrets  •  mvn test  •  Allure publish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9"/>
          <p:cNvSpPr/>
          <p:nvPr/>
        </p:nvSpPr>
        <p:spPr>
          <a:xfrm>
            <a:off x="731520" y="274320"/>
            <a:ext cx="10667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✅ </a:t>
            </a:r>
            <a:r>
              <a:rPr b="1" lang="en-US" sz="3600" spc="-1" strike="noStrike">
                <a:solidFill>
                  <a:srgbClr val="1a1a2e"/>
                </a:solidFill>
                <a:latin typeface="Calibri"/>
              </a:rPr>
              <a:t>Успешный прогон тестов в CI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 3"/>
          <p:cNvSpPr/>
          <p:nvPr/>
        </p:nvSpPr>
        <p:spPr>
          <a:xfrm>
            <a:off x="731520" y="822960"/>
            <a:ext cx="1828440" cy="45360"/>
          </a:xfrm>
          <a:prstGeom prst="rect">
            <a:avLst/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1" name="Picture 3" descr="img_c7d5b27c12b3.png"/>
          <p:cNvPicPr/>
          <p:nvPr/>
        </p:nvPicPr>
        <p:blipFill>
          <a:blip r:embed="rId1"/>
          <a:stretch/>
        </p:blipFill>
        <p:spPr>
          <a:xfrm>
            <a:off x="704520" y="1828800"/>
            <a:ext cx="5299560" cy="304236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6" descr="img_8b94b200b6a7.png"/>
          <p:cNvPicPr/>
          <p:nvPr/>
        </p:nvPicPr>
        <p:blipFill>
          <a:blip r:embed="rId2"/>
          <a:stretch/>
        </p:blipFill>
        <p:spPr>
          <a:xfrm>
            <a:off x="6187320" y="1828800"/>
            <a:ext cx="5299560" cy="3042360"/>
          </a:xfrm>
          <a:prstGeom prst="rect">
            <a:avLst/>
          </a:prstGeom>
          <a:ln w="0">
            <a:noFill/>
          </a:ln>
        </p:spPr>
      </p:pic>
      <p:sp>
        <p:nvSpPr>
          <p:cNvPr id="143" name="TextBox 12"/>
          <p:cNvSpPr/>
          <p:nvPr/>
        </p:nvSpPr>
        <p:spPr>
          <a:xfrm>
            <a:off x="704520" y="4899960"/>
            <a:ext cx="5299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888b8e"/>
                </a:solidFill>
                <a:latin typeface="Calibri"/>
              </a:rPr>
              <a:t>Лог прогона тестов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6187320" y="4899960"/>
            <a:ext cx="5299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888b8e"/>
                </a:solidFill>
                <a:latin typeface="Calibri"/>
              </a:rPr>
              <a:t>Результат — все тесты прошли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8"/>
          <p:cNvSpPr/>
          <p:nvPr/>
        </p:nvSpPr>
        <p:spPr>
          <a:xfrm>
            <a:off x="731520" y="5600160"/>
            <a:ext cx="106675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88b8e"/>
                </a:solidFill>
                <a:latin typeface="Calibri"/>
              </a:rPr>
              <a:t>Тесты запускаются автоматически при push. Зелёный билд = можно мёржить.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LibreOffice/7.5.1.2$Windows_X86_64 LibreOffice_project/fcbaee479e84c6cd81291587d2ee68cba099e129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2026-07-19T18:19:07Z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