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9465CB-1F7D-48D4-AB61-E9EDA06DD3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1414F5-5CC5-43BD-9326-D41C8C140B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869E4D-5735-4FF0-A624-432470B385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46C780-7F88-4D25-8FEA-4F4BA44869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A09BBD-C1D0-4A67-BDDF-B17065F1B4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65B346-04E6-4EBE-9DE1-86EF5A74DB3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116120-5326-4C7F-A417-DDF5B8D0C1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956BB5-7F22-4930-9345-CED1CF2A53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BD5B85-093E-4E9C-82C4-2384B88824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841CC5-B8A9-433F-8B20-AEAD460A44D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79B108-D0A6-4D4C-942A-EE8F9A77CC3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F015FD-035C-47C7-9FB0-15E3AFD1B7D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5CE056-11AB-4E79-ADD8-2C2342A18FF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2743200"/>
            <a:ext cx="12191400" cy="1370880"/>
          </a:xfrm>
          <a:prstGeom prst="rect">
            <a:avLst/>
          </a:prstGeom>
          <a:solidFill>
            <a:srgbClr val="0e2a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TextBox 2"/>
          <p:cNvSpPr/>
          <p:nvPr/>
        </p:nvSpPr>
        <p:spPr>
          <a:xfrm>
            <a:off x="731520" y="2926080"/>
            <a:ext cx="1066716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DejaVu Sans"/>
              </a:rPr>
              <a:t>FINAL SURGE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731520" y="3474720"/>
            <a:ext cx="106671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200" spc="-1" strike="noStrike">
                <a:solidFill>
                  <a:srgbClr val="00b4d8"/>
                </a:solidFill>
                <a:latin typeface="Calibri"/>
                <a:ea typeface="DejaVu Sans"/>
              </a:rPr>
              <a:t>Сайт для UI-автотестов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4572000" y="3936960"/>
            <a:ext cx="3047400" cy="4500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731520" y="4200120"/>
            <a:ext cx="10667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888b8e"/>
                </a:solidFill>
                <a:latin typeface="Calibri"/>
                <a:ea typeface="DejaVu Sans"/>
              </a:rPr>
              <a:t>log.finalsurge.com  •  Java 17  •  Selenide 7.x  •  JUnit 5  •  Allure Report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Box 6"/>
          <p:cNvSpPr/>
          <p:nvPr/>
        </p:nvSpPr>
        <p:spPr>
          <a:xfrm>
            <a:off x="731520" y="5943600"/>
            <a:ext cx="106671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888b8e"/>
                </a:solidFill>
                <a:latin typeface="Calibri"/>
                <a:ea typeface="DejaVu Sans"/>
              </a:rPr>
              <a:t>Анна Сидорова  •  2026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1"/>
          <p:cNvSpPr/>
          <p:nvPr/>
        </p:nvSpPr>
        <p:spPr>
          <a:xfrm>
            <a:off x="731520" y="411480"/>
            <a:ext cx="1066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1a1a2e"/>
                </a:solidFill>
                <a:latin typeface="Calibri"/>
                <a:ea typeface="DejaVu Sans"/>
              </a:rPr>
              <a:t>Что такое Final Surge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Rectangle 2"/>
          <p:cNvSpPr/>
          <p:nvPr/>
        </p:nvSpPr>
        <p:spPr>
          <a:xfrm>
            <a:off x="731520" y="960120"/>
            <a:ext cx="1828080" cy="4500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TextBox 3"/>
          <p:cNvSpPr/>
          <p:nvPr/>
        </p:nvSpPr>
        <p:spPr>
          <a:xfrm>
            <a:off x="731520" y="1188720"/>
            <a:ext cx="10667160" cy="46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🏃‍♂️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Онлайн-платформа для triathletes и бегунов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1a1a2e"/>
                </a:solidFill>
                <a:latin typeface="Calibri"/>
                <a:ea typeface="DejaVu Sans"/>
              </a:rPr>
              <a:t>Final Surge — это веб-приложение для планирования,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1a1a2e"/>
                </a:solidFill>
                <a:latin typeface="Calibri"/>
                <a:ea typeface="DejaVu Sans"/>
              </a:rPr>
              <a:t>отслеживания и анализа тренировок.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0b1d3a"/>
                </a:solidFill>
                <a:latin typeface="Calibri"/>
                <a:ea typeface="DejaVu Sans"/>
              </a:rPr>
              <a:t>Основные возможности: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Календарь тренировок (Day / Week / Month)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Добавление тренировок (Quick Add / Full Add)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Training Plans — планы тренировок с Apply to Calendar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Daily Vitals — вес, пульс, сон, графики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Отчёты и статистика по дистанции и длительности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Интеграции: Garmin, Strava, TrainerRoad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Gear &amp; Routes — учёт экипировки и маршрутов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888b8e"/>
                </a:solidFill>
                <a:latin typeface="Calibri"/>
                <a:ea typeface="DejaVu Sans"/>
              </a:rPr>
              <a:t>Технологии сайта: ASP.NET, jQuery, Bootstrap 2, AJAX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1"/>
          <p:cNvSpPr/>
          <p:nvPr/>
        </p:nvSpPr>
        <p:spPr>
          <a:xfrm>
            <a:off x="731520" y="274320"/>
            <a:ext cx="1066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1a1a2e"/>
                </a:solidFill>
                <a:latin typeface="Calibri"/>
                <a:ea typeface="DejaVu Sans"/>
              </a:rPr>
              <a:t>Архитектура приложения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Rectangle 2"/>
          <p:cNvSpPr/>
          <p:nvPr/>
        </p:nvSpPr>
        <p:spPr>
          <a:xfrm>
            <a:off x="731520" y="822960"/>
            <a:ext cx="1828080" cy="4500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graphicFrame>
        <p:nvGraphicFramePr>
          <p:cNvPr id="52" name="Table 3"/>
          <p:cNvGraphicFramePr/>
          <p:nvPr/>
        </p:nvGraphicFramePr>
        <p:xfrm>
          <a:off x="457200" y="1097280"/>
          <a:ext cx="11277000" cy="5028480"/>
        </p:xfrm>
        <a:graphic>
          <a:graphicData uri="http://schemas.openxmlformats.org/drawingml/2006/table">
            <a:tbl>
              <a:tblPr/>
              <a:tblGrid>
                <a:gridCol w="3759120"/>
                <a:gridCol w="3759120"/>
                <a:gridCol w="3759120"/>
              </a:tblGrid>
              <a:tr h="41904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Раздел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URL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Ключевые особенности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1d3a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🔑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Логин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/login.cshtml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2 панели: вход + восстановление. jQuery Validate. 13 скрытых полей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📝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Регистрация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/register.cshtml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Форма нового аккаунта, клиентская валидация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📊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Dashboard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 (после входа)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Виджеты: сегодняшняя тренировка, сводка за неделю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📅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Календарь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/Calendar.cshtml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JS-рендеринг сетки! Day/Week/Month, infinite scroll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🏋️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Тренировки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/Workouts.cshtml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⚠️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HTTP 500 без сессии! Список, поиск, Garmin/Strava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📋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Training Plans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/TrainingPlans.cshtml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Список планов, Apply to Calendar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🔄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Plan History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/TrainingPlansHist.cshtml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Управление применёнными планами, Shift Dates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💓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Daily Vitals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Вложен в Workouts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Вес, пульс, сон — графики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📈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Отчёты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/Reports.cshtml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Графики дистанции/длительности, фильтры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👤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Профиль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/UserProfile.cshtml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Имя, email, аватар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  <a:tr h="4190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⚙️ </a:t>
                      </a: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Настройки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/Preferences.cshtml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a1a2e"/>
                          </a:solidFill>
                          <a:latin typeface="Calibri"/>
                        </a:rPr>
                        <a:t>Уведомления, приватность, синхронизация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1"/>
          <p:cNvSpPr/>
          <p:nvPr/>
        </p:nvSpPr>
        <p:spPr>
          <a:xfrm>
            <a:off x="731520" y="320040"/>
            <a:ext cx="1066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DejaVu Sans"/>
              </a:rPr>
              <a:t>Почему Selenide, а не чистый Selenium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Rectangle 2"/>
          <p:cNvSpPr/>
          <p:nvPr/>
        </p:nvSpPr>
        <p:spPr>
          <a:xfrm>
            <a:off x="731520" y="868680"/>
            <a:ext cx="1828080" cy="4500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graphicFrame>
        <p:nvGraphicFramePr>
          <p:cNvPr id="55" name="Table 3"/>
          <p:cNvGraphicFramePr/>
          <p:nvPr/>
        </p:nvGraphicFramePr>
        <p:xfrm>
          <a:off x="548640" y="1188720"/>
          <a:ext cx="11063160" cy="4937400"/>
        </p:xfrm>
        <a:graphic>
          <a:graphicData uri="http://schemas.openxmlformats.org/drawingml/2006/table">
            <a:tbl>
              <a:tblPr/>
              <a:tblGrid>
                <a:gridCol w="3687840"/>
                <a:gridCol w="3687840"/>
                <a:gridCol w="3687840"/>
              </a:tblGrid>
              <a:tr h="9874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3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Проблема Final Surge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3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❌ </a:t>
                      </a:r>
                      <a:r>
                        <a:rPr b="1" lang="en-US" sz="13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Чистый Selenium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3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✅ </a:t>
                      </a:r>
                      <a:r>
                        <a:rPr b="1" lang="en-US" sz="13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Selenide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0b4d8"/>
                    </a:solidFill>
                  </a:tcPr>
                </a:tc>
              </a:tr>
              <a:tr h="987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AJAX-загрузка календаря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WebDriverWait + jQuery.active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+ ручной контроль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Автоматически ждёт AJAX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$(...).shouldBe(visible)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1d3a"/>
                    </a:solidFill>
                  </a:tcPr>
                </a:tc>
              </a:tr>
              <a:tr h="987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jQuery анимации (200 мс)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Thread.sleep(200) — хрупко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makePause() антипаттерн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Встроенные ожидания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видимости и кликабельности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e2a52"/>
                    </a:solidFill>
                  </a:tcPr>
                </a:tc>
              </a:tr>
              <a:tr h="987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Workouts.cshtml: 500 без сессии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Ручная проверка URL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+ перелогин при ошибке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Selenide сам ждёт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загрузки страницы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b1d3a"/>
                    </a:solidFill>
                  </a:tcPr>
                </a:tc>
              </a:tr>
              <a:tr h="987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IFrame (Garmin/импорт)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driver.switchTo().frame()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888b8e"/>
                          </a:solidFill>
                          <a:latin typeface="Calibri"/>
                        </a:rPr>
                        <a:t>+ ручной WebDriverWait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switchTo().frame()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+ авто-ожидание загрузки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e2a52"/>
                    </a:solidFill>
                  </a:tcPr>
                </a:tc>
              </a:tr>
            </a:tbl>
          </a:graphicData>
        </a:graphic>
      </p:graphicFrame>
      <p:sp>
        <p:nvSpPr>
          <p:cNvPr id="56" name="TextBox 4"/>
          <p:cNvSpPr/>
          <p:nvPr/>
        </p:nvSpPr>
        <p:spPr>
          <a:xfrm>
            <a:off x="731520" y="6217920"/>
            <a:ext cx="106671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00b4d8"/>
                </a:solidFill>
                <a:latin typeface="Calibri"/>
                <a:ea typeface="DejaVu Sans"/>
              </a:rPr>
              <a:t>Selenide = авто-ожидания  •  fluent API  •  скриншоты при падении  •  минимум кода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1"/>
          <p:cNvSpPr/>
          <p:nvPr/>
        </p:nvSpPr>
        <p:spPr>
          <a:xfrm>
            <a:off x="731520" y="274320"/>
            <a:ext cx="1066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1a1a2e"/>
                </a:solidFill>
                <a:latin typeface="Calibri"/>
                <a:ea typeface="DejaVu Sans"/>
              </a:rPr>
              <a:t>Технологический стек проекта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Rectangle 2"/>
          <p:cNvSpPr/>
          <p:nvPr/>
        </p:nvSpPr>
        <p:spPr>
          <a:xfrm>
            <a:off x="731520" y="822960"/>
            <a:ext cx="1828080" cy="4500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" name="Rounded Rectangle 3"/>
          <p:cNvSpPr/>
          <p:nvPr/>
        </p:nvSpPr>
        <p:spPr>
          <a:xfrm>
            <a:off x="457200" y="1188720"/>
            <a:ext cx="3474000" cy="16452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" name="TextBox 4"/>
          <p:cNvSpPr/>
          <p:nvPr/>
        </p:nvSpPr>
        <p:spPr>
          <a:xfrm>
            <a:off x="640080" y="1371600"/>
            <a:ext cx="310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☕ 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Java 17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Box 5"/>
          <p:cNvSpPr/>
          <p:nvPr/>
        </p:nvSpPr>
        <p:spPr>
          <a:xfrm>
            <a:off x="640080" y="1920240"/>
            <a:ext cx="310824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LTS-версия. Современный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с records, pattern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matching, sealed classes.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Rounded Rectangle 6"/>
          <p:cNvSpPr/>
          <p:nvPr/>
        </p:nvSpPr>
        <p:spPr>
          <a:xfrm>
            <a:off x="4206240" y="1188720"/>
            <a:ext cx="3474000" cy="16452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TextBox 7"/>
          <p:cNvSpPr/>
          <p:nvPr/>
        </p:nvSpPr>
        <p:spPr>
          <a:xfrm>
            <a:off x="4389120" y="1371600"/>
            <a:ext cx="310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🧪 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JUnit 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8"/>
          <p:cNvSpPr/>
          <p:nvPr/>
        </p:nvSpPr>
        <p:spPr>
          <a:xfrm>
            <a:off x="4389120" y="1920240"/>
            <a:ext cx="310824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Современный тестовый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фреймворк. Параметризация,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parallel execution, extensions.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Rounded Rectangle 9"/>
          <p:cNvSpPr/>
          <p:nvPr/>
        </p:nvSpPr>
        <p:spPr>
          <a:xfrm>
            <a:off x="7955280" y="1188720"/>
            <a:ext cx="3474000" cy="16452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8138160" y="1371600"/>
            <a:ext cx="310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⚡ 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Selenide 7.x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Box 11"/>
          <p:cNvSpPr/>
          <p:nvPr/>
        </p:nvSpPr>
        <p:spPr>
          <a:xfrm>
            <a:off x="8138160" y="1920240"/>
            <a:ext cx="310824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Обёртка над Selenium.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Авто-ожидания, fluent API,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скриншоты, auto-close.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Rounded Rectangle 12"/>
          <p:cNvSpPr/>
          <p:nvPr/>
        </p:nvSpPr>
        <p:spPr>
          <a:xfrm>
            <a:off x="457200" y="3017520"/>
            <a:ext cx="3474000" cy="16452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TextBox 13"/>
          <p:cNvSpPr/>
          <p:nvPr/>
        </p:nvSpPr>
        <p:spPr>
          <a:xfrm>
            <a:off x="640080" y="3200400"/>
            <a:ext cx="310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📊 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Allure Report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14"/>
          <p:cNvSpPr/>
          <p:nvPr/>
        </p:nvSpPr>
        <p:spPr>
          <a:xfrm>
            <a:off x="640080" y="3749040"/>
            <a:ext cx="310824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Красивые отчёты о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прохождении тестов.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Шаги, вложения, графики.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ounded Rectangle 15"/>
          <p:cNvSpPr/>
          <p:nvPr/>
        </p:nvSpPr>
        <p:spPr>
          <a:xfrm>
            <a:off x="4206240" y="3017520"/>
            <a:ext cx="3474000" cy="16452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TextBox 16"/>
          <p:cNvSpPr/>
          <p:nvPr/>
        </p:nvSpPr>
        <p:spPr>
          <a:xfrm>
            <a:off x="4389120" y="3200400"/>
            <a:ext cx="310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📦 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Lombok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17"/>
          <p:cNvSpPr/>
          <p:nvPr/>
        </p:nvSpPr>
        <p:spPr>
          <a:xfrm>
            <a:off x="4389120" y="3749040"/>
            <a:ext cx="310824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@Log4j2 — логирование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@Getter, @Setter, @Builder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— чистый код без boilerplate.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ounded Rectangle 18"/>
          <p:cNvSpPr/>
          <p:nvPr/>
        </p:nvSpPr>
        <p:spPr>
          <a:xfrm>
            <a:off x="7955280" y="3017520"/>
            <a:ext cx="3474000" cy="16452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TextBox 19"/>
          <p:cNvSpPr/>
          <p:nvPr/>
        </p:nvSpPr>
        <p:spPr>
          <a:xfrm>
            <a:off x="8138160" y="3200400"/>
            <a:ext cx="310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🎲 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Faker + Factory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20"/>
          <p:cNvSpPr/>
          <p:nvPr/>
        </p:nvSpPr>
        <p:spPr>
          <a:xfrm>
            <a:off x="8138160" y="3749040"/>
            <a:ext cx="3108240" cy="11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Генерация тестовых данных: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имена, email, адреса.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Factory — переиспользуемые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билдеры объектов.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Rounded Rectangle 21"/>
          <p:cNvSpPr/>
          <p:nvPr/>
        </p:nvSpPr>
        <p:spPr>
          <a:xfrm>
            <a:off x="457200" y="4846320"/>
            <a:ext cx="3474000" cy="16452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TextBox 22"/>
          <p:cNvSpPr/>
          <p:nvPr/>
        </p:nvSpPr>
        <p:spPr>
          <a:xfrm>
            <a:off x="640080" y="5029200"/>
            <a:ext cx="310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🎯 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TestListener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23"/>
          <p:cNvSpPr/>
          <p:nvPr/>
        </p:nvSpPr>
        <p:spPr>
          <a:xfrm>
            <a:off x="640080" y="5577840"/>
            <a:ext cx="310824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Перехват событий тестов: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onTestStart, onTestFailure,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скриншоты, логирование.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Rounded Rectangle 24"/>
          <p:cNvSpPr/>
          <p:nvPr/>
        </p:nvSpPr>
        <p:spPr>
          <a:xfrm>
            <a:off x="4206240" y="4846320"/>
            <a:ext cx="3474000" cy="16452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TextBox 25"/>
          <p:cNvSpPr/>
          <p:nvPr/>
        </p:nvSpPr>
        <p:spPr>
          <a:xfrm>
            <a:off x="4389120" y="5029200"/>
            <a:ext cx="310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🔐 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config.properties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26"/>
          <p:cNvSpPr/>
          <p:nvPr/>
        </p:nvSpPr>
        <p:spPr>
          <a:xfrm>
            <a:off x="4389120" y="5486400"/>
            <a:ext cx="310824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Креды и URL вынесены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в отдельный файл.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System.getProperty().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Rounded Rectangle 27"/>
          <p:cNvSpPr/>
          <p:nvPr/>
        </p:nvSpPr>
        <p:spPr>
          <a:xfrm>
            <a:off x="7955280" y="4846320"/>
            <a:ext cx="3474000" cy="16452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TextBox 28"/>
          <p:cNvSpPr/>
          <p:nvPr/>
        </p:nvSpPr>
        <p:spPr>
          <a:xfrm>
            <a:off x="8138160" y="5029200"/>
            <a:ext cx="3108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🔁  </a:t>
            </a:r>
            <a:r>
              <a:rPr b="1" lang="en-US" sz="1800" spc="-1" strike="noStrike">
                <a:solidFill>
                  <a:srgbClr val="0b1d3a"/>
                </a:solidFill>
                <a:latin typeface="Calibri"/>
                <a:ea typeface="DejaVu Sans"/>
              </a:rPr>
              <a:t>GitHub Actions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29"/>
          <p:cNvSpPr/>
          <p:nvPr/>
        </p:nvSpPr>
        <p:spPr>
          <a:xfrm>
            <a:off x="8138160" y="5577840"/>
            <a:ext cx="310824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CI/CD: автозапуск тестов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при push/PR, матрица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сборок, артефакты Allure.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"/>
          <p:cNvSpPr/>
          <p:nvPr/>
        </p:nvSpPr>
        <p:spPr>
          <a:xfrm>
            <a:off x="731520" y="274320"/>
            <a:ext cx="1066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1a1a2e"/>
                </a:solidFill>
                <a:latin typeface="Calibri"/>
                <a:ea typeface="DejaVu Sans"/>
              </a:rPr>
              <a:t>Allure Report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ectangle 2"/>
          <p:cNvSpPr/>
          <p:nvPr/>
        </p:nvSpPr>
        <p:spPr>
          <a:xfrm>
            <a:off x="731520" y="822960"/>
            <a:ext cx="1828080" cy="4500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731520" y="1005840"/>
            <a:ext cx="10667160" cy="14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1" lang="en-US" sz="1600" spc="-1" strike="noStrike">
                <a:solidFill>
                  <a:srgbClr val="0b1d3a"/>
                </a:solidFill>
                <a:latin typeface="Calibri"/>
                <a:ea typeface="DejaVu Sans"/>
              </a:rPr>
              <a:t>📊  </a:t>
            </a:r>
            <a:r>
              <a:rPr b="1" lang="en-US" sz="1600" spc="-1" strike="noStrike">
                <a:solidFill>
                  <a:srgbClr val="0b1d3a"/>
                </a:solidFill>
                <a:latin typeface="Calibri"/>
                <a:ea typeface="DejaVu Sans"/>
              </a:rPr>
              <a:t>Детальные отчёты о каждом прогоне тестов: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Пошаговое выполнение с @Step-аннотациями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Скриншоты при падении (Selenide делает автоматически)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Графики: тренды, продолжительность, распределение ошибок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Группировка по сьютам, severity, фичам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4"/>
          <p:cNvSpPr/>
          <p:nvPr/>
        </p:nvSpPr>
        <p:spPr>
          <a:xfrm>
            <a:off x="731520" y="2099880"/>
            <a:ext cx="1066716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TextBox 5"/>
          <p:cNvSpPr/>
          <p:nvPr/>
        </p:nvSpPr>
        <p:spPr>
          <a:xfrm>
            <a:off x="731520" y="5600160"/>
            <a:ext cx="106671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888b8e"/>
                </a:solidFill>
                <a:latin typeface="Calibri"/>
                <a:ea typeface="DejaVu Sans"/>
              </a:rPr>
              <a:t>Allure интегрируется одной зависимостью в pom.xml. Selenide пишет скриншоты — Allure их подхватывает.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Picture 1" descr="img_075386f0ff01.png"/>
          <p:cNvPicPr/>
          <p:nvPr/>
        </p:nvPicPr>
        <p:blipFill>
          <a:blip r:embed="rId1"/>
          <a:stretch/>
        </p:blipFill>
        <p:spPr>
          <a:xfrm>
            <a:off x="804960" y="2743200"/>
            <a:ext cx="5199120" cy="2626200"/>
          </a:xfrm>
          <a:prstGeom prst="rect">
            <a:avLst/>
          </a:prstGeom>
          <a:ln w="0">
            <a:noFill/>
          </a:ln>
        </p:spPr>
      </p:pic>
      <p:pic>
        <p:nvPicPr>
          <p:cNvPr id="92" name="Picture 5" descr="img_8b25f51cc27b.png"/>
          <p:cNvPicPr/>
          <p:nvPr/>
        </p:nvPicPr>
        <p:blipFill>
          <a:blip r:embed="rId2"/>
          <a:stretch/>
        </p:blipFill>
        <p:spPr>
          <a:xfrm>
            <a:off x="6629400" y="2514600"/>
            <a:ext cx="5199120" cy="2971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731520" y="274320"/>
            <a:ext cx="1066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1a1a2e"/>
                </a:solidFill>
                <a:latin typeface="Calibri"/>
                <a:ea typeface="DejaVu Sans"/>
              </a:rPr>
              <a:t>GitHub Actions — CI/CD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Rectangle 2"/>
          <p:cNvSpPr/>
          <p:nvPr/>
        </p:nvSpPr>
        <p:spPr>
          <a:xfrm>
            <a:off x="731520" y="822960"/>
            <a:ext cx="1828080" cy="4500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731520" y="1005840"/>
            <a:ext cx="10667160" cy="21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1" lang="en-US" sz="1600" spc="-1" strike="noStrike">
                <a:solidFill>
                  <a:srgbClr val="0b1d3a"/>
                </a:solidFill>
                <a:latin typeface="Calibri"/>
                <a:ea typeface="DejaVu Sans"/>
              </a:rPr>
              <a:t>🔁  </a:t>
            </a:r>
            <a:r>
              <a:rPr b="1" lang="en-US" sz="1600" spc="-1" strike="noStrike">
                <a:solidFill>
                  <a:srgbClr val="0b1d3a"/>
                </a:solidFill>
                <a:latin typeface="Calibri"/>
                <a:ea typeface="DejaVu Sans"/>
              </a:rPr>
              <a:t>Автоматический запуск тестов при push и Pull Request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Триггеры: push в main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Матрица сборок: Java 17, разные браузеры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Креды — через GitHub Secrets (FS_EMAIL, FS_PASSWORD)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Артефакты: сохранение Allure-отчёта после прогона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•  </a:t>
            </a:r>
            <a:r>
              <a:rPr b="0" i="1" lang="en-US" sz="1400" spc="-1" strike="noStrike">
                <a:solidFill>
                  <a:srgbClr val="1a1a2e"/>
                </a:solidFill>
                <a:latin typeface="Calibri"/>
                <a:ea typeface="DejaVu Sans"/>
              </a:rPr>
              <a:t>Allure History — тренды по прогонам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Picture 4" descr="img_a742acf3e578.png"/>
          <p:cNvPicPr/>
          <p:nvPr/>
        </p:nvPicPr>
        <p:blipFill>
          <a:blip r:embed="rId1"/>
          <a:stretch/>
        </p:blipFill>
        <p:spPr>
          <a:xfrm>
            <a:off x="1601640" y="3200400"/>
            <a:ext cx="9599400" cy="2898720"/>
          </a:xfrm>
          <a:prstGeom prst="rect">
            <a:avLst/>
          </a:prstGeom>
          <a:ln w="0">
            <a:noFill/>
          </a:ln>
        </p:spPr>
      </p:pic>
      <p:sp>
        <p:nvSpPr>
          <p:cNvPr id="97" name="TextBox 5"/>
          <p:cNvSpPr/>
          <p:nvPr/>
        </p:nvSpPr>
        <p:spPr>
          <a:xfrm>
            <a:off x="731520" y="6249960"/>
            <a:ext cx="106671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888b8e"/>
                </a:solidFill>
                <a:latin typeface="Calibri"/>
                <a:ea typeface="DejaVu Sans"/>
              </a:rPr>
              <a:t>config.properties  •  GitHub Secrets  •  mvn test  •  Allure publish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LibreOffice/7.5.1.2$Windows_X86_64 LibreOffice_project/fcbaee479e84c6cd81291587d2ee68cba099e129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2026-07-19T17:34:18Z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